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arumadrop One" charset="1" panose="00000000000000000000"/>
      <p:regular r:id="rId17"/>
    </p:embeddedFont>
    <p:embeddedFont>
      <p:font typeface="KG Primary Penmanship" charset="1" panose="0200050600000002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71" r="0" b="-103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42880">
            <a:off x="12945866" y="212776"/>
            <a:ext cx="3127865" cy="2724086"/>
          </a:xfrm>
          <a:custGeom>
            <a:avLst/>
            <a:gdLst/>
            <a:ahLst/>
            <a:cxnLst/>
            <a:rect r="r" b="b" t="t" l="l"/>
            <a:pathLst>
              <a:path h="2724086" w="3127865">
                <a:moveTo>
                  <a:pt x="0" y="0"/>
                </a:moveTo>
                <a:lnTo>
                  <a:pt x="3127864" y="0"/>
                </a:lnTo>
                <a:lnTo>
                  <a:pt x="3127864" y="2724085"/>
                </a:lnTo>
                <a:lnTo>
                  <a:pt x="0" y="2724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4630" y="5297697"/>
            <a:ext cx="2430978" cy="3293196"/>
          </a:xfrm>
          <a:custGeom>
            <a:avLst/>
            <a:gdLst/>
            <a:ahLst/>
            <a:cxnLst/>
            <a:rect r="r" b="b" t="t" l="l"/>
            <a:pathLst>
              <a:path h="3293196" w="2430978">
                <a:moveTo>
                  <a:pt x="0" y="0"/>
                </a:moveTo>
                <a:lnTo>
                  <a:pt x="2430978" y="0"/>
                </a:lnTo>
                <a:lnTo>
                  <a:pt x="2430978" y="3293196"/>
                </a:lnTo>
                <a:lnTo>
                  <a:pt x="0" y="329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26483">
            <a:off x="3021313" y="8015148"/>
            <a:ext cx="3061825" cy="1391739"/>
          </a:xfrm>
          <a:custGeom>
            <a:avLst/>
            <a:gdLst/>
            <a:ahLst/>
            <a:cxnLst/>
            <a:rect r="r" b="b" t="t" l="l"/>
            <a:pathLst>
              <a:path h="1391739" w="3061825">
                <a:moveTo>
                  <a:pt x="0" y="0"/>
                </a:moveTo>
                <a:lnTo>
                  <a:pt x="3061825" y="0"/>
                </a:lnTo>
                <a:lnTo>
                  <a:pt x="3061825" y="1391739"/>
                </a:lnTo>
                <a:lnTo>
                  <a:pt x="0" y="1391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40217">
            <a:off x="871835" y="564220"/>
            <a:ext cx="2005030" cy="4114800"/>
          </a:xfrm>
          <a:custGeom>
            <a:avLst/>
            <a:gdLst/>
            <a:ahLst/>
            <a:cxnLst/>
            <a:rect r="r" b="b" t="t" l="l"/>
            <a:pathLst>
              <a:path h="4114800" w="200503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88456">
            <a:off x="7778276" y="153496"/>
            <a:ext cx="4178509" cy="2400744"/>
          </a:xfrm>
          <a:custGeom>
            <a:avLst/>
            <a:gdLst/>
            <a:ahLst/>
            <a:cxnLst/>
            <a:rect r="r" b="b" t="t" l="l"/>
            <a:pathLst>
              <a:path h="2400744" w="4178509">
                <a:moveTo>
                  <a:pt x="0" y="0"/>
                </a:moveTo>
                <a:lnTo>
                  <a:pt x="4178509" y="0"/>
                </a:lnTo>
                <a:lnTo>
                  <a:pt x="4178509" y="2400744"/>
                </a:lnTo>
                <a:lnTo>
                  <a:pt x="0" y="24007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52734">
            <a:off x="15479702" y="3165185"/>
            <a:ext cx="2377775" cy="1837372"/>
          </a:xfrm>
          <a:custGeom>
            <a:avLst/>
            <a:gdLst/>
            <a:ahLst/>
            <a:cxnLst/>
            <a:rect r="r" b="b" t="t" l="l"/>
            <a:pathLst>
              <a:path h="1837372" w="2377775">
                <a:moveTo>
                  <a:pt x="0" y="0"/>
                </a:moveTo>
                <a:lnTo>
                  <a:pt x="2377775" y="0"/>
                </a:lnTo>
                <a:lnTo>
                  <a:pt x="2377775" y="1837372"/>
                </a:lnTo>
                <a:lnTo>
                  <a:pt x="0" y="18373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74636" y="7901487"/>
            <a:ext cx="1889042" cy="1768831"/>
          </a:xfrm>
          <a:custGeom>
            <a:avLst/>
            <a:gdLst/>
            <a:ahLst/>
            <a:cxnLst/>
            <a:rect r="r" b="b" t="t" l="l"/>
            <a:pathLst>
              <a:path h="1768831" w="1889042">
                <a:moveTo>
                  <a:pt x="0" y="0"/>
                </a:moveTo>
                <a:lnTo>
                  <a:pt x="1889042" y="0"/>
                </a:lnTo>
                <a:lnTo>
                  <a:pt x="1889042" y="1768830"/>
                </a:lnTo>
                <a:lnTo>
                  <a:pt x="0" y="17688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12415" y="682900"/>
            <a:ext cx="2070478" cy="1938720"/>
          </a:xfrm>
          <a:custGeom>
            <a:avLst/>
            <a:gdLst/>
            <a:ahLst/>
            <a:cxnLst/>
            <a:rect r="r" b="b" t="t" l="l"/>
            <a:pathLst>
              <a:path h="1938720" w="2070478">
                <a:moveTo>
                  <a:pt x="0" y="0"/>
                </a:moveTo>
                <a:lnTo>
                  <a:pt x="2070478" y="0"/>
                </a:lnTo>
                <a:lnTo>
                  <a:pt x="2070478" y="1938720"/>
                </a:lnTo>
                <a:lnTo>
                  <a:pt x="0" y="1938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44415">
            <a:off x="11065137" y="7848313"/>
            <a:ext cx="3631506" cy="1875178"/>
          </a:xfrm>
          <a:custGeom>
            <a:avLst/>
            <a:gdLst/>
            <a:ahLst/>
            <a:cxnLst/>
            <a:rect r="r" b="b" t="t" l="l"/>
            <a:pathLst>
              <a:path h="1875178" w="3631506">
                <a:moveTo>
                  <a:pt x="0" y="0"/>
                </a:moveTo>
                <a:lnTo>
                  <a:pt x="3631507" y="0"/>
                </a:lnTo>
                <a:lnTo>
                  <a:pt x="3631507" y="1875178"/>
                </a:lnTo>
                <a:lnTo>
                  <a:pt x="0" y="187517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572001">
            <a:off x="15251990" y="5320127"/>
            <a:ext cx="1794234" cy="4271985"/>
          </a:xfrm>
          <a:custGeom>
            <a:avLst/>
            <a:gdLst/>
            <a:ahLst/>
            <a:cxnLst/>
            <a:rect r="r" b="b" t="t" l="l"/>
            <a:pathLst>
              <a:path h="4271985" w="1794234">
                <a:moveTo>
                  <a:pt x="0" y="0"/>
                </a:moveTo>
                <a:lnTo>
                  <a:pt x="1794234" y="0"/>
                </a:lnTo>
                <a:lnTo>
                  <a:pt x="1794234" y="4271985"/>
                </a:lnTo>
                <a:lnTo>
                  <a:pt x="0" y="42719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10973" y="3843598"/>
            <a:ext cx="12629100" cy="340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4"/>
              </a:lnSpc>
              <a:spcBef>
                <a:spcPct val="0"/>
              </a:spcBef>
            </a:pPr>
            <a:r>
              <a:rPr lang="en-US" sz="12800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Diabetic Classification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38732" y="3201142"/>
            <a:ext cx="5810536" cy="882729"/>
            <a:chOff x="0" y="0"/>
            <a:chExt cx="2675116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75116" cy="406400"/>
            </a:xfrm>
            <a:custGeom>
              <a:avLst/>
              <a:gdLst/>
              <a:ahLst/>
              <a:cxnLst/>
              <a:rect r="r" b="b" t="t" l="l"/>
              <a:pathLst>
                <a:path h="406400" w="2675116">
                  <a:moveTo>
                    <a:pt x="2471916" y="0"/>
                  </a:moveTo>
                  <a:cubicBezTo>
                    <a:pt x="2584140" y="0"/>
                    <a:pt x="2675116" y="90976"/>
                    <a:pt x="2675116" y="203200"/>
                  </a:cubicBezTo>
                  <a:cubicBezTo>
                    <a:pt x="2675116" y="315424"/>
                    <a:pt x="2584140" y="406400"/>
                    <a:pt x="247191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675116" cy="415925"/>
            </a:xfrm>
            <a:prstGeom prst="rect">
              <a:avLst/>
            </a:prstGeom>
          </p:spPr>
          <p:txBody>
            <a:bodyPr anchor="ctr" rtlCol="false" tIns="11430" lIns="11430" bIns="11430" rIns="11430"/>
            <a:lstStyle/>
            <a:p>
              <a:pPr algn="ctr">
                <a:lnSpc>
                  <a:spcPts val="598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652995" y="7112595"/>
            <a:ext cx="8982010" cy="687048"/>
          </a:xfrm>
          <a:custGeom>
            <a:avLst/>
            <a:gdLst/>
            <a:ahLst/>
            <a:cxnLst/>
            <a:rect r="r" b="b" t="t" l="l"/>
            <a:pathLst>
              <a:path h="687048" w="8982010">
                <a:moveTo>
                  <a:pt x="0" y="0"/>
                </a:moveTo>
                <a:lnTo>
                  <a:pt x="8982010" y="0"/>
                </a:lnTo>
                <a:lnTo>
                  <a:pt x="8982010" y="687049"/>
                </a:lnTo>
                <a:lnTo>
                  <a:pt x="0" y="68704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213338" y="3248767"/>
            <a:ext cx="5861323" cy="69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7"/>
              </a:lnSpc>
              <a:spcBef>
                <a:spcPct val="0"/>
              </a:spcBef>
            </a:pPr>
            <a:r>
              <a:rPr lang="en-US" sz="5075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71" r="0" b="-103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91961" y="2452802"/>
            <a:ext cx="10104078" cy="635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1"/>
              </a:lnSpc>
            </a:pPr>
            <a:r>
              <a:rPr lang="en-US" sz="402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Diabetes is a blight on public health across the United States, and increasingly more so in developing countries as time progresses.</a:t>
            </a:r>
          </a:p>
          <a:p>
            <a:pPr algn="ctr">
              <a:lnSpc>
                <a:spcPts val="3160"/>
              </a:lnSpc>
            </a:pPr>
          </a:p>
          <a:p>
            <a:pPr algn="ctr">
              <a:lnSpc>
                <a:spcPts val="6351"/>
              </a:lnSpc>
            </a:pPr>
            <a:r>
              <a:rPr lang="en-US" sz="402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 The advent of GLP-1 medications makes early detection and intervention more crucial than ever.</a:t>
            </a:r>
          </a:p>
          <a:p>
            <a:pPr algn="ctr">
              <a:lnSpc>
                <a:spcPts val="3160"/>
              </a:lnSpc>
            </a:pPr>
          </a:p>
          <a:p>
            <a:pPr algn="ctr" marL="0" indent="0" lvl="0">
              <a:lnSpc>
                <a:spcPts val="6351"/>
              </a:lnSpc>
            </a:pPr>
            <a:r>
              <a:rPr lang="en-US" sz="402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This presents itself as a very compelling area of public health research.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22148" y="588744"/>
            <a:ext cx="9084122" cy="1589500"/>
            <a:chOff x="0" y="0"/>
            <a:chExt cx="2322609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2609" cy="406400"/>
            </a:xfrm>
            <a:custGeom>
              <a:avLst/>
              <a:gdLst/>
              <a:ahLst/>
              <a:cxnLst/>
              <a:rect r="r" b="b" t="t" l="l"/>
              <a:pathLst>
                <a:path h="406400" w="2322609">
                  <a:moveTo>
                    <a:pt x="2119409" y="0"/>
                  </a:moveTo>
                  <a:cubicBezTo>
                    <a:pt x="2231634" y="0"/>
                    <a:pt x="2322609" y="90976"/>
                    <a:pt x="2322609" y="203200"/>
                  </a:cubicBezTo>
                  <a:cubicBezTo>
                    <a:pt x="2322609" y="315424"/>
                    <a:pt x="2231634" y="406400"/>
                    <a:pt x="2119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22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399035" y="560169"/>
            <a:ext cx="9489929" cy="135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1"/>
              </a:lnSpc>
            </a:pPr>
            <a:r>
              <a:rPr lang="en-US" sz="8702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Introduction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138017">
            <a:off x="1321232" y="6852733"/>
            <a:ext cx="2486329" cy="2165366"/>
          </a:xfrm>
          <a:custGeom>
            <a:avLst/>
            <a:gdLst/>
            <a:ahLst/>
            <a:cxnLst/>
            <a:rect r="r" b="b" t="t" l="l"/>
            <a:pathLst>
              <a:path h="2165366" w="2486329">
                <a:moveTo>
                  <a:pt x="0" y="0"/>
                </a:moveTo>
                <a:lnTo>
                  <a:pt x="2486329" y="0"/>
                </a:lnTo>
                <a:lnTo>
                  <a:pt x="2486329" y="2165367"/>
                </a:lnTo>
                <a:lnTo>
                  <a:pt x="0" y="21653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37823" y="4150881"/>
            <a:ext cx="2232955" cy="3024939"/>
          </a:xfrm>
          <a:custGeom>
            <a:avLst/>
            <a:gdLst/>
            <a:ahLst/>
            <a:cxnLst/>
            <a:rect r="r" b="b" t="t" l="l"/>
            <a:pathLst>
              <a:path h="3024939" w="2232955">
                <a:moveTo>
                  <a:pt x="0" y="0"/>
                </a:moveTo>
                <a:lnTo>
                  <a:pt x="2232955" y="0"/>
                </a:lnTo>
                <a:lnTo>
                  <a:pt x="2232955" y="3024939"/>
                </a:lnTo>
                <a:lnTo>
                  <a:pt x="0" y="30249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79073" y="7552143"/>
            <a:ext cx="3759587" cy="2160054"/>
          </a:xfrm>
          <a:custGeom>
            <a:avLst/>
            <a:gdLst/>
            <a:ahLst/>
            <a:cxnLst/>
            <a:rect r="r" b="b" t="t" l="l"/>
            <a:pathLst>
              <a:path h="2160054" w="3759587">
                <a:moveTo>
                  <a:pt x="0" y="0"/>
                </a:moveTo>
                <a:lnTo>
                  <a:pt x="3759587" y="0"/>
                </a:lnTo>
                <a:lnTo>
                  <a:pt x="3759587" y="2160054"/>
                </a:lnTo>
                <a:lnTo>
                  <a:pt x="0" y="21600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8189" y="1006913"/>
            <a:ext cx="1788447" cy="1785195"/>
          </a:xfrm>
          <a:custGeom>
            <a:avLst/>
            <a:gdLst/>
            <a:ahLst/>
            <a:cxnLst/>
            <a:rect r="r" b="b" t="t" l="l"/>
            <a:pathLst>
              <a:path h="1785195" w="1788447">
                <a:moveTo>
                  <a:pt x="0" y="0"/>
                </a:moveTo>
                <a:lnTo>
                  <a:pt x="1788447" y="0"/>
                </a:lnTo>
                <a:lnTo>
                  <a:pt x="1788447" y="1785195"/>
                </a:lnTo>
                <a:lnTo>
                  <a:pt x="0" y="17851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94373" y="1028700"/>
            <a:ext cx="1987887" cy="2621913"/>
          </a:xfrm>
          <a:custGeom>
            <a:avLst/>
            <a:gdLst/>
            <a:ahLst/>
            <a:cxnLst/>
            <a:rect r="r" b="b" t="t" l="l"/>
            <a:pathLst>
              <a:path h="2621913" w="1987887">
                <a:moveTo>
                  <a:pt x="0" y="0"/>
                </a:moveTo>
                <a:lnTo>
                  <a:pt x="1987887" y="0"/>
                </a:lnTo>
                <a:lnTo>
                  <a:pt x="1987887" y="2621913"/>
                </a:lnTo>
                <a:lnTo>
                  <a:pt x="0" y="26219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049966">
            <a:off x="1537055" y="3036016"/>
            <a:ext cx="1399444" cy="3332010"/>
          </a:xfrm>
          <a:custGeom>
            <a:avLst/>
            <a:gdLst/>
            <a:ahLst/>
            <a:cxnLst/>
            <a:rect r="r" b="b" t="t" l="l"/>
            <a:pathLst>
              <a:path h="3332010" w="1399444">
                <a:moveTo>
                  <a:pt x="0" y="0"/>
                </a:moveTo>
                <a:lnTo>
                  <a:pt x="1399444" y="0"/>
                </a:lnTo>
                <a:lnTo>
                  <a:pt x="1399444" y="3332010"/>
                </a:lnTo>
                <a:lnTo>
                  <a:pt x="0" y="33320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71" r="0" b="-103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71266" y="3313709"/>
            <a:ext cx="10097604" cy="138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88"/>
              </a:lnSpc>
            </a:pPr>
            <a:r>
              <a:rPr lang="en-US" sz="3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Using 441K records from the CDC’s Behavioral Risk Factor Surveillance System survey.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1266" y="2214067"/>
            <a:ext cx="10097604" cy="103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sz="6659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01. Data Preparation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1266" y="4540479"/>
            <a:ext cx="10097604" cy="103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sz="6659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02. Model 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1266" y="7009435"/>
            <a:ext cx="10097604" cy="103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sz="6659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03. Evluation &amp; Results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650465">
            <a:off x="14698136" y="3059708"/>
            <a:ext cx="3086990" cy="2666036"/>
          </a:xfrm>
          <a:custGeom>
            <a:avLst/>
            <a:gdLst/>
            <a:ahLst/>
            <a:cxnLst/>
            <a:rect r="r" b="b" t="t" l="l"/>
            <a:pathLst>
              <a:path h="2666036" w="3086990">
                <a:moveTo>
                  <a:pt x="0" y="0"/>
                </a:moveTo>
                <a:lnTo>
                  <a:pt x="3086990" y="0"/>
                </a:lnTo>
                <a:lnTo>
                  <a:pt x="3086990" y="2666037"/>
                </a:lnTo>
                <a:lnTo>
                  <a:pt x="0" y="2666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65018" y="6000756"/>
            <a:ext cx="1975973" cy="2830169"/>
          </a:xfrm>
          <a:custGeom>
            <a:avLst/>
            <a:gdLst/>
            <a:ahLst/>
            <a:cxnLst/>
            <a:rect r="r" b="b" t="t" l="l"/>
            <a:pathLst>
              <a:path h="2830169" w="1975973">
                <a:moveTo>
                  <a:pt x="0" y="0"/>
                </a:moveTo>
                <a:lnTo>
                  <a:pt x="1975973" y="0"/>
                </a:lnTo>
                <a:lnTo>
                  <a:pt x="1975973" y="2830169"/>
                </a:lnTo>
                <a:lnTo>
                  <a:pt x="0" y="2830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65018" y="1069822"/>
            <a:ext cx="2133118" cy="2260529"/>
          </a:xfrm>
          <a:custGeom>
            <a:avLst/>
            <a:gdLst/>
            <a:ahLst/>
            <a:cxnLst/>
            <a:rect r="r" b="b" t="t" l="l"/>
            <a:pathLst>
              <a:path h="2260529" w="2133118">
                <a:moveTo>
                  <a:pt x="0" y="0"/>
                </a:moveTo>
                <a:lnTo>
                  <a:pt x="2133118" y="0"/>
                </a:lnTo>
                <a:lnTo>
                  <a:pt x="2133118" y="2260530"/>
                </a:lnTo>
                <a:lnTo>
                  <a:pt x="0" y="22605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38867" y="6617005"/>
            <a:ext cx="2161421" cy="2850795"/>
          </a:xfrm>
          <a:custGeom>
            <a:avLst/>
            <a:gdLst/>
            <a:ahLst/>
            <a:cxnLst/>
            <a:rect r="r" b="b" t="t" l="l"/>
            <a:pathLst>
              <a:path h="2850795" w="2161421">
                <a:moveTo>
                  <a:pt x="0" y="0"/>
                </a:moveTo>
                <a:lnTo>
                  <a:pt x="2161422" y="0"/>
                </a:lnTo>
                <a:lnTo>
                  <a:pt x="2161422" y="2850795"/>
                </a:lnTo>
                <a:lnTo>
                  <a:pt x="0" y="28507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85514" y="872523"/>
            <a:ext cx="1714775" cy="1605653"/>
          </a:xfrm>
          <a:custGeom>
            <a:avLst/>
            <a:gdLst/>
            <a:ahLst/>
            <a:cxnLst/>
            <a:rect r="r" b="b" t="t" l="l"/>
            <a:pathLst>
              <a:path h="1605653" w="1714775">
                <a:moveTo>
                  <a:pt x="0" y="0"/>
                </a:moveTo>
                <a:lnTo>
                  <a:pt x="1714775" y="0"/>
                </a:lnTo>
                <a:lnTo>
                  <a:pt x="1714775" y="1605652"/>
                </a:lnTo>
                <a:lnTo>
                  <a:pt x="0" y="1605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565018" y="3941591"/>
            <a:ext cx="1546328" cy="1447925"/>
          </a:xfrm>
          <a:custGeom>
            <a:avLst/>
            <a:gdLst/>
            <a:ahLst/>
            <a:cxnLst/>
            <a:rect r="r" b="b" t="t" l="l"/>
            <a:pathLst>
              <a:path h="1447925" w="1546328">
                <a:moveTo>
                  <a:pt x="0" y="0"/>
                </a:moveTo>
                <a:lnTo>
                  <a:pt x="1546328" y="0"/>
                </a:lnTo>
                <a:lnTo>
                  <a:pt x="1546328" y="1447925"/>
                </a:lnTo>
                <a:lnTo>
                  <a:pt x="0" y="1447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91245" y="440270"/>
            <a:ext cx="9084122" cy="1589500"/>
            <a:chOff x="0" y="0"/>
            <a:chExt cx="2322609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2609" cy="406400"/>
            </a:xfrm>
            <a:custGeom>
              <a:avLst/>
              <a:gdLst/>
              <a:ahLst/>
              <a:cxnLst/>
              <a:rect r="r" b="b" t="t" l="l"/>
              <a:pathLst>
                <a:path h="406400" w="2322609">
                  <a:moveTo>
                    <a:pt x="2119409" y="0"/>
                  </a:moveTo>
                  <a:cubicBezTo>
                    <a:pt x="2231634" y="0"/>
                    <a:pt x="2322609" y="90976"/>
                    <a:pt x="2322609" y="203200"/>
                  </a:cubicBezTo>
                  <a:cubicBezTo>
                    <a:pt x="2322609" y="315424"/>
                    <a:pt x="2231634" y="406400"/>
                    <a:pt x="2119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322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8342" y="339164"/>
            <a:ext cx="9489929" cy="135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1"/>
              </a:lnSpc>
            </a:pPr>
            <a:r>
              <a:rPr lang="en-US" sz="8702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Objective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1266" y="5640121"/>
            <a:ext cx="10097604" cy="138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88"/>
              </a:lnSpc>
            </a:pPr>
            <a:r>
              <a:rPr lang="en-US" sz="3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Testing Logistic Regression, LinearSVM, KernelSVM, and ANN to classify patients.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1266" y="8109077"/>
            <a:ext cx="10097604" cy="1388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88"/>
              </a:lnSpc>
            </a:pPr>
            <a:r>
              <a:rPr lang="en-US" sz="3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Testing models for best performance - what does good performance actually look like?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71" r="0" b="-103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8998" y="728187"/>
            <a:ext cx="3090161" cy="3916102"/>
          </a:xfrm>
          <a:custGeom>
            <a:avLst/>
            <a:gdLst/>
            <a:ahLst/>
            <a:cxnLst/>
            <a:rect r="r" b="b" t="t" l="l"/>
            <a:pathLst>
              <a:path h="3916102" w="3090161">
                <a:moveTo>
                  <a:pt x="0" y="0"/>
                </a:moveTo>
                <a:lnTo>
                  <a:pt x="3090161" y="0"/>
                </a:lnTo>
                <a:lnTo>
                  <a:pt x="3090161" y="3916102"/>
                </a:lnTo>
                <a:lnTo>
                  <a:pt x="0" y="39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45085" y="296000"/>
            <a:ext cx="12001500" cy="18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8"/>
              </a:lnSpc>
            </a:pPr>
            <a:r>
              <a:rPr lang="en-US" sz="11627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Data Preparation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14290">
            <a:off x="3601784" y="437593"/>
            <a:ext cx="1521805" cy="1424963"/>
          </a:xfrm>
          <a:custGeom>
            <a:avLst/>
            <a:gdLst/>
            <a:ahLst/>
            <a:cxnLst/>
            <a:rect r="r" b="b" t="t" l="l"/>
            <a:pathLst>
              <a:path h="1424963" w="1521805">
                <a:moveTo>
                  <a:pt x="0" y="0"/>
                </a:moveTo>
                <a:lnTo>
                  <a:pt x="1521804" y="0"/>
                </a:lnTo>
                <a:lnTo>
                  <a:pt x="1521804" y="1424963"/>
                </a:lnTo>
                <a:lnTo>
                  <a:pt x="0" y="1424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9387" y="2928008"/>
            <a:ext cx="1359222" cy="1272726"/>
          </a:xfrm>
          <a:custGeom>
            <a:avLst/>
            <a:gdLst/>
            <a:ahLst/>
            <a:cxnLst/>
            <a:rect r="r" b="b" t="t" l="l"/>
            <a:pathLst>
              <a:path h="1272726" w="1359222">
                <a:moveTo>
                  <a:pt x="0" y="0"/>
                </a:moveTo>
                <a:lnTo>
                  <a:pt x="1359222" y="0"/>
                </a:lnTo>
                <a:lnTo>
                  <a:pt x="1359222" y="1272726"/>
                </a:lnTo>
                <a:lnTo>
                  <a:pt x="0" y="1272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959661" y="2481332"/>
            <a:ext cx="1158433" cy="816778"/>
            <a:chOff x="0" y="0"/>
            <a:chExt cx="576396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6396" cy="406400"/>
            </a:xfrm>
            <a:custGeom>
              <a:avLst/>
              <a:gdLst/>
              <a:ahLst/>
              <a:cxnLst/>
              <a:rect r="r" b="b" t="t" l="l"/>
              <a:pathLst>
                <a:path h="406400" w="576396">
                  <a:moveTo>
                    <a:pt x="373196" y="0"/>
                  </a:moveTo>
                  <a:cubicBezTo>
                    <a:pt x="485420" y="0"/>
                    <a:pt x="576396" y="90976"/>
                    <a:pt x="576396" y="203200"/>
                  </a:cubicBezTo>
                  <a:cubicBezTo>
                    <a:pt x="576396" y="315424"/>
                    <a:pt x="485420" y="406400"/>
                    <a:pt x="373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57639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17231" y="3908868"/>
            <a:ext cx="1158433" cy="816778"/>
            <a:chOff x="0" y="0"/>
            <a:chExt cx="576396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6396" cy="406400"/>
            </a:xfrm>
            <a:custGeom>
              <a:avLst/>
              <a:gdLst/>
              <a:ahLst/>
              <a:cxnLst/>
              <a:rect r="r" b="b" t="t" l="l"/>
              <a:pathLst>
                <a:path h="406400" w="576396">
                  <a:moveTo>
                    <a:pt x="373196" y="0"/>
                  </a:moveTo>
                  <a:cubicBezTo>
                    <a:pt x="485420" y="0"/>
                    <a:pt x="576396" y="90976"/>
                    <a:pt x="576396" y="203200"/>
                  </a:cubicBezTo>
                  <a:cubicBezTo>
                    <a:pt x="576396" y="315424"/>
                    <a:pt x="485420" y="406400"/>
                    <a:pt x="373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7639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59661" y="5078071"/>
            <a:ext cx="1158433" cy="816778"/>
            <a:chOff x="0" y="0"/>
            <a:chExt cx="576396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6396" cy="406400"/>
            </a:xfrm>
            <a:custGeom>
              <a:avLst/>
              <a:gdLst/>
              <a:ahLst/>
              <a:cxnLst/>
              <a:rect r="r" b="b" t="t" l="l"/>
              <a:pathLst>
                <a:path h="406400" w="576396">
                  <a:moveTo>
                    <a:pt x="373196" y="0"/>
                  </a:moveTo>
                  <a:cubicBezTo>
                    <a:pt x="485420" y="0"/>
                    <a:pt x="576396" y="90976"/>
                    <a:pt x="576396" y="203200"/>
                  </a:cubicBezTo>
                  <a:cubicBezTo>
                    <a:pt x="576396" y="315424"/>
                    <a:pt x="485420" y="406400"/>
                    <a:pt x="373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57639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97394" y="5496488"/>
            <a:ext cx="4490202" cy="3600438"/>
          </a:xfrm>
          <a:custGeom>
            <a:avLst/>
            <a:gdLst/>
            <a:ahLst/>
            <a:cxnLst/>
            <a:rect r="r" b="b" t="t" l="l"/>
            <a:pathLst>
              <a:path h="3600438" w="4490202">
                <a:moveTo>
                  <a:pt x="0" y="0"/>
                </a:moveTo>
                <a:lnTo>
                  <a:pt x="4490202" y="0"/>
                </a:lnTo>
                <a:lnTo>
                  <a:pt x="4490202" y="3600438"/>
                </a:lnTo>
                <a:lnTo>
                  <a:pt x="0" y="3600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58806" y="2314588"/>
            <a:ext cx="10658064" cy="14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0"/>
              </a:lnSpc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441K rows, 330 columns. Dataset was looked very complete, less than one percent missing data in any column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59661" y="2538206"/>
            <a:ext cx="876162" cy="5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2"/>
              </a:lnSpc>
            </a:pPr>
            <a:r>
              <a:rPr lang="en-US" sz="3461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58806" y="3897776"/>
            <a:ext cx="10658064" cy="69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0"/>
              </a:lnSpc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Cleanup dates, cut features to 21 clinically recommended variables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17231" y="3965742"/>
            <a:ext cx="876162" cy="5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2"/>
              </a:lnSpc>
            </a:pPr>
            <a:r>
              <a:rPr lang="en-US" sz="3461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01236" y="5066978"/>
            <a:ext cx="10658064" cy="69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0"/>
              </a:lnSpc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Evaluate correlation of features with target variable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59661" y="5134945"/>
            <a:ext cx="876162" cy="5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2"/>
              </a:lnSpc>
            </a:pPr>
            <a:r>
              <a:rPr lang="en-US" sz="3461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45085" y="6921111"/>
            <a:ext cx="1158433" cy="816778"/>
            <a:chOff x="0" y="0"/>
            <a:chExt cx="576396" cy="40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6396" cy="406400"/>
            </a:xfrm>
            <a:custGeom>
              <a:avLst/>
              <a:gdLst/>
              <a:ahLst/>
              <a:cxnLst/>
              <a:rect r="r" b="b" t="t" l="l"/>
              <a:pathLst>
                <a:path h="406400" w="576396">
                  <a:moveTo>
                    <a:pt x="373196" y="0"/>
                  </a:moveTo>
                  <a:cubicBezTo>
                    <a:pt x="485420" y="0"/>
                    <a:pt x="576396" y="90976"/>
                    <a:pt x="576396" y="203200"/>
                  </a:cubicBezTo>
                  <a:cubicBezTo>
                    <a:pt x="576396" y="315424"/>
                    <a:pt x="485420" y="406400"/>
                    <a:pt x="373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7639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601236" y="6179031"/>
            <a:ext cx="10658064" cy="2158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0"/>
              </a:lnSpc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Identify survey-specific unknown/missing codes - missing data rate rises considerably. Drop rows with any missing values - lots of data available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45085" y="6977986"/>
            <a:ext cx="876162" cy="5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2"/>
              </a:lnSpc>
            </a:pPr>
            <a:r>
              <a:rPr lang="en-US" sz="3461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045085" y="8441522"/>
            <a:ext cx="1158433" cy="816778"/>
            <a:chOff x="0" y="0"/>
            <a:chExt cx="576396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396" cy="406400"/>
            </a:xfrm>
            <a:custGeom>
              <a:avLst/>
              <a:gdLst/>
              <a:ahLst/>
              <a:cxnLst/>
              <a:rect r="r" b="b" t="t" l="l"/>
              <a:pathLst>
                <a:path h="406400" w="576396">
                  <a:moveTo>
                    <a:pt x="373196" y="0"/>
                  </a:moveTo>
                  <a:cubicBezTo>
                    <a:pt x="485420" y="0"/>
                    <a:pt x="576396" y="90976"/>
                    <a:pt x="576396" y="203200"/>
                  </a:cubicBezTo>
                  <a:cubicBezTo>
                    <a:pt x="576396" y="315424"/>
                    <a:pt x="485420" y="406400"/>
                    <a:pt x="3731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7639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686660" y="8430430"/>
            <a:ext cx="10658064" cy="14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0"/>
              </a:lnSpc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Construct target variables - decide against three-class as the data imbalance is insurmountable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45085" y="8498397"/>
            <a:ext cx="876162" cy="5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2"/>
              </a:lnSpc>
            </a:pPr>
            <a:r>
              <a:rPr lang="en-US" sz="3461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0157" y="1512505"/>
            <a:ext cx="15687686" cy="7745795"/>
          </a:xfrm>
          <a:custGeom>
            <a:avLst/>
            <a:gdLst/>
            <a:ahLst/>
            <a:cxnLst/>
            <a:rect r="r" b="b" t="t" l="l"/>
            <a:pathLst>
              <a:path h="7745795" w="15687686">
                <a:moveTo>
                  <a:pt x="0" y="0"/>
                </a:moveTo>
                <a:lnTo>
                  <a:pt x="15687686" y="0"/>
                </a:lnTo>
                <a:lnTo>
                  <a:pt x="15687686" y="7745795"/>
                </a:lnTo>
                <a:lnTo>
                  <a:pt x="0" y="7745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3250" y="-136996"/>
            <a:ext cx="12001500" cy="1817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8"/>
              </a:lnSpc>
            </a:pPr>
            <a:r>
              <a:rPr lang="en-US" sz="11627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EDA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9314" y="2215925"/>
            <a:ext cx="14889371" cy="4950716"/>
          </a:xfrm>
          <a:custGeom>
            <a:avLst/>
            <a:gdLst/>
            <a:ahLst/>
            <a:cxnLst/>
            <a:rect r="r" b="b" t="t" l="l"/>
            <a:pathLst>
              <a:path h="4950716" w="14889371">
                <a:moveTo>
                  <a:pt x="0" y="0"/>
                </a:moveTo>
                <a:lnTo>
                  <a:pt x="14889372" y="0"/>
                </a:lnTo>
                <a:lnTo>
                  <a:pt x="14889372" y="4950716"/>
                </a:lnTo>
                <a:lnTo>
                  <a:pt x="0" y="4950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09765" y="402629"/>
            <a:ext cx="10468471" cy="181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8"/>
              </a:lnSpc>
            </a:pPr>
            <a:r>
              <a:rPr lang="en-US" sz="11627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Data Imbalance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67028" y="7023766"/>
            <a:ext cx="14153943" cy="28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Prompted the decision to opt for binary classification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Imbalancing handled by undersampling for SVM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Logistic Regression would use class_weight parameter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Neural Networks will use pos_weight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537" y="4455814"/>
            <a:ext cx="15516926" cy="5161226"/>
          </a:xfrm>
          <a:custGeom>
            <a:avLst/>
            <a:gdLst/>
            <a:ahLst/>
            <a:cxnLst/>
            <a:rect r="r" b="b" t="t" l="l"/>
            <a:pathLst>
              <a:path h="5161226" w="15516926">
                <a:moveTo>
                  <a:pt x="0" y="0"/>
                </a:moveTo>
                <a:lnTo>
                  <a:pt x="15516926" y="0"/>
                </a:lnTo>
                <a:lnTo>
                  <a:pt x="15516926" y="5161225"/>
                </a:lnTo>
                <a:lnTo>
                  <a:pt x="0" y="5161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72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01939" y="583543"/>
            <a:ext cx="9084122" cy="1589500"/>
            <a:chOff x="0" y="0"/>
            <a:chExt cx="2322609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2609" cy="406400"/>
            </a:xfrm>
            <a:custGeom>
              <a:avLst/>
              <a:gdLst/>
              <a:ahLst/>
              <a:cxnLst/>
              <a:rect r="r" b="b" t="t" l="l"/>
              <a:pathLst>
                <a:path h="406400" w="2322609">
                  <a:moveTo>
                    <a:pt x="2119409" y="0"/>
                  </a:moveTo>
                  <a:cubicBezTo>
                    <a:pt x="2231634" y="0"/>
                    <a:pt x="2322609" y="90976"/>
                    <a:pt x="2322609" y="203200"/>
                  </a:cubicBezTo>
                  <a:cubicBezTo>
                    <a:pt x="2322609" y="315424"/>
                    <a:pt x="2231634" y="406400"/>
                    <a:pt x="2119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22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99035" y="554968"/>
            <a:ext cx="9489929" cy="127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1"/>
              </a:lnSpc>
            </a:pPr>
            <a:r>
              <a:rPr lang="en-US" sz="8202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Logistic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1031" y="2242952"/>
            <a:ext cx="14456700" cy="143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Trained on full dataset using balanced class_weight &amp; L2 regularization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5-fold CV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01939" y="583543"/>
            <a:ext cx="9084122" cy="1589500"/>
            <a:chOff x="0" y="0"/>
            <a:chExt cx="232260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2609" cy="406400"/>
            </a:xfrm>
            <a:custGeom>
              <a:avLst/>
              <a:gdLst/>
              <a:ahLst/>
              <a:cxnLst/>
              <a:rect r="r" b="b" t="t" l="l"/>
              <a:pathLst>
                <a:path h="406400" w="2322609">
                  <a:moveTo>
                    <a:pt x="2119409" y="0"/>
                  </a:moveTo>
                  <a:cubicBezTo>
                    <a:pt x="2231634" y="0"/>
                    <a:pt x="2322609" y="90976"/>
                    <a:pt x="2322609" y="203200"/>
                  </a:cubicBezTo>
                  <a:cubicBezTo>
                    <a:pt x="2322609" y="315424"/>
                    <a:pt x="2231634" y="406400"/>
                    <a:pt x="2119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22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93401" y="5143500"/>
            <a:ext cx="4817076" cy="3969436"/>
          </a:xfrm>
          <a:custGeom>
            <a:avLst/>
            <a:gdLst/>
            <a:ahLst/>
            <a:cxnLst/>
            <a:rect r="r" b="b" t="t" l="l"/>
            <a:pathLst>
              <a:path h="3969436" w="4817076">
                <a:moveTo>
                  <a:pt x="0" y="0"/>
                </a:moveTo>
                <a:lnTo>
                  <a:pt x="4817076" y="0"/>
                </a:lnTo>
                <a:lnTo>
                  <a:pt x="4817076" y="3969436"/>
                </a:lnTo>
                <a:lnTo>
                  <a:pt x="0" y="3969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39489" y="5143500"/>
            <a:ext cx="4817076" cy="3969436"/>
          </a:xfrm>
          <a:custGeom>
            <a:avLst/>
            <a:gdLst/>
            <a:ahLst/>
            <a:cxnLst/>
            <a:rect r="r" b="b" t="t" l="l"/>
            <a:pathLst>
              <a:path h="3969436" w="4817076">
                <a:moveTo>
                  <a:pt x="0" y="0"/>
                </a:moveTo>
                <a:lnTo>
                  <a:pt x="4817075" y="0"/>
                </a:lnTo>
                <a:lnTo>
                  <a:pt x="4817075" y="3969436"/>
                </a:lnTo>
                <a:lnTo>
                  <a:pt x="0" y="3969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99035" y="554968"/>
            <a:ext cx="9489929" cy="127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1"/>
              </a:lnSpc>
            </a:pPr>
            <a:r>
              <a:rPr lang="en-US" sz="8202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SVM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9394" y="2242952"/>
            <a:ext cx="6863191" cy="28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Trained on rebalanced dataset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Performed GridSearchCV</a:t>
            </a:r>
          </a:p>
          <a:p>
            <a:pPr algn="l" marL="1590625" indent="-530208" lvl="2">
              <a:lnSpc>
                <a:spcPts val="5820"/>
              </a:lnSpc>
              <a:buFont typeface="Arial"/>
              <a:buChar char="⚬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Little improvement with parameter tuning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3449" y="2242952"/>
            <a:ext cx="6920500" cy="28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Trained on subset of data as it would be computationally prohibitive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Still very long training process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Optimal results wrt minimizing FNR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01939" y="583543"/>
            <a:ext cx="9084122" cy="1589500"/>
            <a:chOff x="0" y="0"/>
            <a:chExt cx="232260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2609" cy="406400"/>
            </a:xfrm>
            <a:custGeom>
              <a:avLst/>
              <a:gdLst/>
              <a:ahLst/>
              <a:cxnLst/>
              <a:rect r="r" b="b" t="t" l="l"/>
              <a:pathLst>
                <a:path h="406400" w="2322609">
                  <a:moveTo>
                    <a:pt x="2119409" y="0"/>
                  </a:moveTo>
                  <a:cubicBezTo>
                    <a:pt x="2231634" y="0"/>
                    <a:pt x="2322609" y="90976"/>
                    <a:pt x="2322609" y="203200"/>
                  </a:cubicBezTo>
                  <a:cubicBezTo>
                    <a:pt x="2322609" y="315424"/>
                    <a:pt x="2231634" y="406400"/>
                    <a:pt x="2119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22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72094" y="5910841"/>
            <a:ext cx="10930480" cy="3347459"/>
          </a:xfrm>
          <a:custGeom>
            <a:avLst/>
            <a:gdLst/>
            <a:ahLst/>
            <a:cxnLst/>
            <a:rect r="r" b="b" t="t" l="l"/>
            <a:pathLst>
              <a:path h="3347459" w="10930480">
                <a:moveTo>
                  <a:pt x="0" y="0"/>
                </a:moveTo>
                <a:lnTo>
                  <a:pt x="10930480" y="0"/>
                </a:lnTo>
                <a:lnTo>
                  <a:pt x="10930480" y="3347459"/>
                </a:lnTo>
                <a:lnTo>
                  <a:pt x="0" y="33474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7049" y="5317775"/>
            <a:ext cx="4781991" cy="3940525"/>
          </a:xfrm>
          <a:custGeom>
            <a:avLst/>
            <a:gdLst/>
            <a:ahLst/>
            <a:cxnLst/>
            <a:rect r="r" b="b" t="t" l="l"/>
            <a:pathLst>
              <a:path h="3940525" w="4781991">
                <a:moveTo>
                  <a:pt x="0" y="0"/>
                </a:moveTo>
                <a:lnTo>
                  <a:pt x="4781991" y="0"/>
                </a:lnTo>
                <a:lnTo>
                  <a:pt x="4781991" y="3940525"/>
                </a:lnTo>
                <a:lnTo>
                  <a:pt x="0" y="394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99035" y="554968"/>
            <a:ext cx="9489929" cy="127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1"/>
              </a:lnSpc>
            </a:pPr>
            <a:r>
              <a:rPr lang="en-US" sz="8202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Neural Networks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1031" y="2242952"/>
            <a:ext cx="14456700" cy="28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Used pos_weight to adjust for data imbalance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Struggled to converge smoothly, shallow learning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Marginally better than Logistic Regression and SVM at cost of much more computational work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3E6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01939" y="583543"/>
            <a:ext cx="9084122" cy="1589500"/>
            <a:chOff x="0" y="0"/>
            <a:chExt cx="2322609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2609" cy="406400"/>
            </a:xfrm>
            <a:custGeom>
              <a:avLst/>
              <a:gdLst/>
              <a:ahLst/>
              <a:cxnLst/>
              <a:rect r="r" b="b" t="t" l="l"/>
              <a:pathLst>
                <a:path h="406400" w="2322609">
                  <a:moveTo>
                    <a:pt x="2119409" y="0"/>
                  </a:moveTo>
                  <a:cubicBezTo>
                    <a:pt x="2231634" y="0"/>
                    <a:pt x="2322609" y="90976"/>
                    <a:pt x="2322609" y="203200"/>
                  </a:cubicBezTo>
                  <a:cubicBezTo>
                    <a:pt x="2322609" y="315424"/>
                    <a:pt x="2231634" y="406400"/>
                    <a:pt x="21194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2260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07738" y="5873759"/>
            <a:ext cx="11051562" cy="3384541"/>
          </a:xfrm>
          <a:custGeom>
            <a:avLst/>
            <a:gdLst/>
            <a:ahLst/>
            <a:cxnLst/>
            <a:rect r="r" b="b" t="t" l="l"/>
            <a:pathLst>
              <a:path h="3384541" w="11051562">
                <a:moveTo>
                  <a:pt x="0" y="0"/>
                </a:moveTo>
                <a:lnTo>
                  <a:pt x="11051562" y="0"/>
                </a:lnTo>
                <a:lnTo>
                  <a:pt x="11051562" y="3384541"/>
                </a:lnTo>
                <a:lnTo>
                  <a:pt x="0" y="3384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0629" y="5263152"/>
            <a:ext cx="4848279" cy="3995148"/>
          </a:xfrm>
          <a:custGeom>
            <a:avLst/>
            <a:gdLst/>
            <a:ahLst/>
            <a:cxnLst/>
            <a:rect r="r" b="b" t="t" l="l"/>
            <a:pathLst>
              <a:path h="3995148" w="4848279">
                <a:moveTo>
                  <a:pt x="0" y="0"/>
                </a:moveTo>
                <a:lnTo>
                  <a:pt x="4848278" y="0"/>
                </a:lnTo>
                <a:lnTo>
                  <a:pt x="4848278" y="3995148"/>
                </a:lnTo>
                <a:lnTo>
                  <a:pt x="0" y="399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99035" y="554968"/>
            <a:ext cx="9489929" cy="1272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1"/>
              </a:lnSpc>
            </a:pPr>
            <a:r>
              <a:rPr lang="en-US" sz="8202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Neural Networks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1031" y="2242952"/>
            <a:ext cx="14456700" cy="289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New strategies - use F2 score as early-stopping (doubles the weight of recall)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Used pos_weight to penalize False Negative predictions much more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Traded precision for recall</a:t>
            </a:r>
          </a:p>
          <a:p>
            <a:pPr algn="l" marL="795312" indent="-397656" lvl="1">
              <a:lnSpc>
                <a:spcPts val="5820"/>
              </a:lnSpc>
              <a:buFont typeface="Arial"/>
              <a:buChar char="•"/>
            </a:pPr>
            <a:r>
              <a:rPr lang="en-US" sz="3683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Ultimately, any performance improvement would require more + better data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71" r="0" b="-1037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20969">
            <a:off x="13173193" y="186619"/>
            <a:ext cx="3365771" cy="2931281"/>
          </a:xfrm>
          <a:custGeom>
            <a:avLst/>
            <a:gdLst/>
            <a:ahLst/>
            <a:cxnLst/>
            <a:rect r="r" b="b" t="t" l="l"/>
            <a:pathLst>
              <a:path h="2931281" w="3365771">
                <a:moveTo>
                  <a:pt x="0" y="0"/>
                </a:moveTo>
                <a:lnTo>
                  <a:pt x="3365771" y="0"/>
                </a:lnTo>
                <a:lnTo>
                  <a:pt x="3365771" y="2931281"/>
                </a:lnTo>
                <a:lnTo>
                  <a:pt x="0" y="2931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7955" y="5451388"/>
            <a:ext cx="2430978" cy="3293196"/>
          </a:xfrm>
          <a:custGeom>
            <a:avLst/>
            <a:gdLst/>
            <a:ahLst/>
            <a:cxnLst/>
            <a:rect r="r" b="b" t="t" l="l"/>
            <a:pathLst>
              <a:path h="3293196" w="2430978">
                <a:moveTo>
                  <a:pt x="0" y="0"/>
                </a:moveTo>
                <a:lnTo>
                  <a:pt x="2430978" y="0"/>
                </a:lnTo>
                <a:lnTo>
                  <a:pt x="2430978" y="3293196"/>
                </a:lnTo>
                <a:lnTo>
                  <a:pt x="0" y="329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30051">
            <a:off x="3336194" y="7939894"/>
            <a:ext cx="3061825" cy="1391739"/>
          </a:xfrm>
          <a:custGeom>
            <a:avLst/>
            <a:gdLst/>
            <a:ahLst/>
            <a:cxnLst/>
            <a:rect r="r" b="b" t="t" l="l"/>
            <a:pathLst>
              <a:path h="1391739" w="3061825">
                <a:moveTo>
                  <a:pt x="0" y="0"/>
                </a:moveTo>
                <a:lnTo>
                  <a:pt x="3061826" y="0"/>
                </a:lnTo>
                <a:lnTo>
                  <a:pt x="3061826" y="1391739"/>
                </a:lnTo>
                <a:lnTo>
                  <a:pt x="0" y="1391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363995">
            <a:off x="718669" y="564220"/>
            <a:ext cx="2005030" cy="4114800"/>
          </a:xfrm>
          <a:custGeom>
            <a:avLst/>
            <a:gdLst/>
            <a:ahLst/>
            <a:cxnLst/>
            <a:rect r="r" b="b" t="t" l="l"/>
            <a:pathLst>
              <a:path h="4114800" w="2005030">
                <a:moveTo>
                  <a:pt x="0" y="0"/>
                </a:moveTo>
                <a:lnTo>
                  <a:pt x="2005030" y="0"/>
                </a:lnTo>
                <a:lnTo>
                  <a:pt x="20050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388456">
            <a:off x="10668944" y="7360154"/>
            <a:ext cx="4178509" cy="2400744"/>
          </a:xfrm>
          <a:custGeom>
            <a:avLst/>
            <a:gdLst/>
            <a:ahLst/>
            <a:cxnLst/>
            <a:rect r="r" b="b" t="t" l="l"/>
            <a:pathLst>
              <a:path h="2400744" w="4178509">
                <a:moveTo>
                  <a:pt x="0" y="0"/>
                </a:moveTo>
                <a:lnTo>
                  <a:pt x="4178509" y="0"/>
                </a:lnTo>
                <a:lnTo>
                  <a:pt x="4178509" y="2400743"/>
                </a:lnTo>
                <a:lnTo>
                  <a:pt x="0" y="24007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575357" y="3460325"/>
            <a:ext cx="2377775" cy="1837372"/>
          </a:xfrm>
          <a:custGeom>
            <a:avLst/>
            <a:gdLst/>
            <a:ahLst/>
            <a:cxnLst/>
            <a:rect r="r" b="b" t="t" l="l"/>
            <a:pathLst>
              <a:path h="1837372" w="2377775">
                <a:moveTo>
                  <a:pt x="0" y="0"/>
                </a:moveTo>
                <a:lnTo>
                  <a:pt x="2377775" y="0"/>
                </a:lnTo>
                <a:lnTo>
                  <a:pt x="2377775" y="1837372"/>
                </a:lnTo>
                <a:lnTo>
                  <a:pt x="0" y="18373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74636" y="7901487"/>
            <a:ext cx="1889042" cy="1768831"/>
          </a:xfrm>
          <a:custGeom>
            <a:avLst/>
            <a:gdLst/>
            <a:ahLst/>
            <a:cxnLst/>
            <a:rect r="r" b="b" t="t" l="l"/>
            <a:pathLst>
              <a:path h="1768831" w="1889042">
                <a:moveTo>
                  <a:pt x="0" y="0"/>
                </a:moveTo>
                <a:lnTo>
                  <a:pt x="1889042" y="0"/>
                </a:lnTo>
                <a:lnTo>
                  <a:pt x="1889042" y="1768830"/>
                </a:lnTo>
                <a:lnTo>
                  <a:pt x="0" y="17688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33311" y="682900"/>
            <a:ext cx="2070478" cy="1938720"/>
          </a:xfrm>
          <a:custGeom>
            <a:avLst/>
            <a:gdLst/>
            <a:ahLst/>
            <a:cxnLst/>
            <a:rect r="r" b="b" t="t" l="l"/>
            <a:pathLst>
              <a:path h="1938720" w="2070478">
                <a:moveTo>
                  <a:pt x="0" y="0"/>
                </a:moveTo>
                <a:lnTo>
                  <a:pt x="2070478" y="0"/>
                </a:lnTo>
                <a:lnTo>
                  <a:pt x="2070478" y="1938720"/>
                </a:lnTo>
                <a:lnTo>
                  <a:pt x="0" y="19387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91572" y="477800"/>
            <a:ext cx="4144213" cy="2139921"/>
          </a:xfrm>
          <a:custGeom>
            <a:avLst/>
            <a:gdLst/>
            <a:ahLst/>
            <a:cxnLst/>
            <a:rect r="r" b="b" t="t" l="l"/>
            <a:pathLst>
              <a:path h="2139921" w="4144213">
                <a:moveTo>
                  <a:pt x="0" y="0"/>
                </a:moveTo>
                <a:lnTo>
                  <a:pt x="4144213" y="0"/>
                </a:lnTo>
                <a:lnTo>
                  <a:pt x="4144213" y="2139921"/>
                </a:lnTo>
                <a:lnTo>
                  <a:pt x="0" y="213992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61743" y="3605129"/>
            <a:ext cx="13148211" cy="221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5"/>
              </a:lnSpc>
              <a:spcBef>
                <a:spcPct val="0"/>
              </a:spcBef>
            </a:pPr>
            <a:r>
              <a:rPr lang="en-US" sz="16326">
                <a:solidFill>
                  <a:srgbClr val="000000"/>
                </a:solidFill>
                <a:latin typeface="Darumadrop One"/>
                <a:ea typeface="Darumadrop One"/>
                <a:cs typeface="Darumadrop One"/>
                <a:sym typeface="Darumadrop One"/>
              </a:rPr>
              <a:t>Thank You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572001">
            <a:off x="15251990" y="5474324"/>
            <a:ext cx="1794234" cy="4271985"/>
          </a:xfrm>
          <a:custGeom>
            <a:avLst/>
            <a:gdLst/>
            <a:ahLst/>
            <a:cxnLst/>
            <a:rect r="r" b="b" t="t" l="l"/>
            <a:pathLst>
              <a:path h="4271985" w="1794234">
                <a:moveTo>
                  <a:pt x="0" y="0"/>
                </a:moveTo>
                <a:lnTo>
                  <a:pt x="1794234" y="0"/>
                </a:lnTo>
                <a:lnTo>
                  <a:pt x="1794234" y="4271985"/>
                </a:lnTo>
                <a:lnTo>
                  <a:pt x="0" y="42719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44843" y="6540157"/>
            <a:ext cx="8982010" cy="687048"/>
          </a:xfrm>
          <a:custGeom>
            <a:avLst/>
            <a:gdLst/>
            <a:ahLst/>
            <a:cxnLst/>
            <a:rect r="r" b="b" t="t" l="l"/>
            <a:pathLst>
              <a:path h="687048" w="8982010">
                <a:moveTo>
                  <a:pt x="0" y="0"/>
                </a:moveTo>
                <a:lnTo>
                  <a:pt x="8982010" y="0"/>
                </a:lnTo>
                <a:lnTo>
                  <a:pt x="8982010" y="687048"/>
                </a:lnTo>
                <a:lnTo>
                  <a:pt x="0" y="68704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DAHIi2xTU0s</dc:identifier>
  <dcterms:modified xsi:type="dcterms:W3CDTF">2011-08-01T06:04:30Z</dcterms:modified>
  <cp:revision>1</cp:revision>
  <dc:title>Medicine</dc:title>
</cp:coreProperties>
</file>